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7" r:id="rId21"/>
    <p:sldId id="278" r:id="rId22"/>
    <p:sldId id="280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876" y="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29230"/>
            <a:ext cx="12191695" cy="6858000"/>
          </a:xfrm>
          <a:prstGeom prst="rect">
            <a:avLst/>
          </a:prstGeom>
          <a:solidFill>
            <a:srgbClr val="004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lang="en-US" sz="4400" b="1" dirty="0"/>
              <a:t>Agile Methodologies and Jira for Software Requirements Management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CCE5FF"/>
                </a:solidFill>
              </a:defRPr>
            </a:pPr>
            <a:r>
              <a:rPr dirty="0"/>
              <a:t>Illustrating Jira for Requirements Management, Traceability,</a:t>
            </a:r>
          </a:p>
          <a:p>
            <a:pPr algn="ctr">
              <a:defRPr sz="2200">
                <a:solidFill>
                  <a:srgbClr val="CCE5FF"/>
                </a:solidFill>
              </a:defRPr>
            </a:pPr>
            <a:r>
              <a:rPr dirty="0"/>
              <a:t>Change Management &amp;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099711" y="5856387"/>
            <a:ext cx="3962095" cy="45720"/>
          </a:xfrm>
          <a:prstGeom prst="rect">
            <a:avLst/>
          </a:prstGeom>
          <a:solidFill>
            <a:srgbClr val="00B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14813" y="6217920"/>
            <a:ext cx="293189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9BBDD"/>
                </a:solidFill>
              </a:defRPr>
            </a:pPr>
            <a:r>
              <a:rPr dirty="0"/>
              <a:t>Software Requirements Engineering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E9EAFA-F2D7-E610-2841-6F43A5D2BD49}"/>
              </a:ext>
            </a:extLst>
          </p:cNvPr>
          <p:cNvSpPr txBox="1"/>
          <p:nvPr/>
        </p:nvSpPr>
        <p:spPr>
          <a:xfrm>
            <a:off x="6265889" y="4289107"/>
            <a:ext cx="419434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FA24-BSE-080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FA24-BSE-127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FA24-BSE-110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4F8E2B-F91F-955E-5F91-4725BE242752}"/>
              </a:ext>
            </a:extLst>
          </p:cNvPr>
          <p:cNvSpPr txBox="1"/>
          <p:nvPr/>
        </p:nvSpPr>
        <p:spPr>
          <a:xfrm>
            <a:off x="3807502" y="4289106"/>
            <a:ext cx="245838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chemeClr val="bg1"/>
                </a:solidFill>
              </a:rPr>
              <a:t>M.Sami</a:t>
            </a:r>
            <a:r>
              <a:rPr lang="en-US" sz="2800" b="1" dirty="0">
                <a:solidFill>
                  <a:schemeClr val="bg1"/>
                </a:solidFill>
              </a:rPr>
              <a:t> Ullah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Fiaz Ahmad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Umar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4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816214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4C99"/>
                </a:solidFill>
              </a:defRPr>
            </a:pPr>
            <a:r>
              <a:rPr dirty="0"/>
              <a:t>Learning Objectives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324800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rPr dirty="0"/>
              <a:t>Agile Methodologies &amp; Jira for Requirements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7121" y="1846788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04C99"/>
                </a:solidFill>
              </a:defRPr>
            </a:pPr>
            <a:r>
              <a:rPr dirty="0"/>
              <a:t>Learning Objectives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✓ Understand how Agile methodologies define software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✓ Learn Jira as a requirements management tool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✓ Explore requirement traceability using Jira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✓ Understand change management in Agile with Jira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rPr dirty="0"/>
              <a:t>✓ Evaluate requirements using Jira dashboards &amp; reports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669280"/>
            <a:ext cx="2560320" cy="457200"/>
          </a:xfrm>
          <a:prstGeom prst="roundRect">
            <a:avLst/>
          </a:prstGeom>
          <a:solidFill>
            <a:srgbClr val="00B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Agile Methodology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5669280"/>
            <a:ext cx="2560320" cy="4572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dirty="0"/>
              <a:t>Jira Tool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5669280"/>
            <a:ext cx="2560320" cy="4572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Requirements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4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4C99"/>
                </a:solidFill>
              </a:defRPr>
            </a:pPr>
            <a:r>
              <a:t>Agile Methodologies: Requirements in Agile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CLO4: Agile Methodologies &amp; Jira for Requirements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486400" cy="4888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04C99"/>
                </a:solidFill>
              </a:defRPr>
            </a:pPr>
            <a:r>
              <a:rPr dirty="0"/>
              <a:t>Key Agile Principles for Requirements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</a:defRPr>
            </a:pPr>
            <a:r>
              <a:rPr sz="2000" dirty="0"/>
              <a:t>▸ User Stories: Requirements expressed as 'As a [role], I want [feature] so that [benefit]'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</a:defRPr>
            </a:pPr>
            <a:r>
              <a:rPr sz="2000" dirty="0"/>
              <a:t>▸ Product Backlog: Prioritized list of all requirements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</a:defRPr>
            </a:pPr>
            <a:r>
              <a:rPr sz="2000" dirty="0"/>
              <a:t>▸ Sprints: Time-boxed iterations (1-4 weeks) to deliver working software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</a:defRPr>
            </a:pPr>
            <a:r>
              <a:rPr sz="2000" dirty="0"/>
              <a:t>▸ Iterative Refinement: Requirements evolve through feedback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</a:defRPr>
            </a:pPr>
            <a:r>
              <a:rPr sz="2000" dirty="0"/>
              <a:t>▸ Acceptance Criteria: Define when a requirement is 'done'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</a:defRPr>
            </a:pPr>
            <a:r>
              <a:rPr sz="2000" dirty="0"/>
              <a:t>▸ Continuous Collaboration: PO, Dev Team &amp; Stakeholders work together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188720"/>
            <a:ext cx="5486400" cy="2560320"/>
          </a:xfrm>
          <a:prstGeom prst="roundRect">
            <a:avLst/>
          </a:prstGeom>
          <a:solidFill>
            <a:srgbClr val="E8F4FD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04C99"/>
                </a:solidFill>
              </a:defRPr>
            </a:pPr>
            <a:r>
              <a:t>Agile Manifesto Values</a:t>
            </a:r>
          </a:p>
          <a:p>
            <a:pPr algn="ctr"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Individuals &amp; Interactions  &gt;  Processes &amp; Tools</a:t>
            </a:r>
          </a:p>
          <a:p>
            <a:pPr algn="ctr"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Working Software  &gt;  Comprehensive Documentation</a:t>
            </a:r>
          </a:p>
          <a:p>
            <a:pPr algn="ctr"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Customer Collaboration  &gt;  Contract Negotiation</a:t>
            </a:r>
          </a:p>
          <a:p>
            <a:pPr algn="ctr"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Responding to Change  &gt;  Following a Plan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4023360"/>
            <a:ext cx="5486400" cy="210312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04C99"/>
                </a:solidFill>
              </a:defRPr>
            </a:pPr>
            <a:r>
              <a:t>Scrum Framework Components</a:t>
            </a:r>
          </a:p>
          <a:p>
            <a:pPr algn="ctr"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• Product Owner  →  Manages Product Backlog</a:t>
            </a:r>
          </a:p>
          <a:p>
            <a:pPr algn="ctr"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• Scrum Master  →  Facilitates Agile Process</a:t>
            </a:r>
          </a:p>
          <a:p>
            <a:pPr algn="ctr"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• Development Team  →  Delivers Increment</a:t>
            </a:r>
          </a:p>
          <a:p>
            <a:pPr algn="ctr"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• Sprint Planning / Daily Standup / Review / Retrospective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4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4C99"/>
                </a:solidFill>
              </a:defRPr>
            </a:pPr>
            <a:r>
              <a:t>Introduction to Jira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CLO4: Agile Methodologies &amp; Jira for Requirements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04C99"/>
                </a:solidFill>
              </a:defRPr>
            </a:pPr>
            <a:r>
              <a:rPr dirty="0"/>
              <a:t>What is Jira?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rPr dirty="0"/>
              <a:t>Jira is a project management and issue tracking tool developed by Atlassian.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rPr dirty="0"/>
              <a:t>Originally designed for bug tracking, now widely used for Agile software development.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rPr dirty="0"/>
              <a:t>Supports Scrum, Kanban, and hybrid Agile methodologies.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rPr dirty="0"/>
              <a:t>Highly customizable workflows, fields, and reporting.</a:t>
            </a:r>
          </a:p>
          <a:p>
            <a:pPr>
              <a:spcAft>
                <a:spcPts val="500"/>
              </a:spcAft>
            </a:pPr>
            <a:endParaRPr dirty="0"/>
          </a:p>
          <a:p>
            <a:pPr>
              <a:spcAft>
                <a:spcPts val="1000"/>
              </a:spcAft>
              <a:defRPr sz="2000" b="1">
                <a:solidFill>
                  <a:srgbClr val="004C99"/>
                </a:solidFill>
              </a:defRPr>
            </a:pPr>
            <a:r>
              <a:rPr dirty="0"/>
              <a:t>Key Features for Requirements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rPr dirty="0"/>
              <a:t>✓ Issue Tracking: Create, assign, and track requirements as issues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rPr dirty="0"/>
              <a:t>✓ Customizable Workflows: Define requirement lifecycle states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rPr dirty="0"/>
              <a:t>✓ Agile Boards: Visualize work with Scrum/Kanban boards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rPr dirty="0"/>
              <a:t>✓ Dashboards &amp; Reports: Monitor progress and quality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rPr dirty="0"/>
              <a:t>✓ Integration: Connect with Confluence, Bitbucket, Test Management tools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188720"/>
            <a:ext cx="5486400" cy="2286000"/>
          </a:xfrm>
          <a:prstGeom prst="roundRect">
            <a:avLst/>
          </a:prstGeom>
          <a:solidFill>
            <a:srgbClr val="004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JIRA</a:t>
            </a:r>
          </a:p>
          <a:p>
            <a:pPr algn="ctr">
              <a:defRPr sz="1800">
                <a:solidFill>
                  <a:srgbClr val="CCE5FF"/>
                </a:solidFill>
              </a:defRPr>
            </a:pPr>
            <a:r>
              <a:t>by Atlassian</a:t>
            </a:r>
          </a:p>
          <a:p>
            <a:pPr algn="ctr">
              <a:defRPr sz="1400">
                <a:solidFill>
                  <a:srgbClr val="AACCEE"/>
                </a:solidFill>
              </a:defRPr>
            </a:pPr>
            <a:r>
              <a:t>Issue &amp; Project Tracking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840480"/>
            <a:ext cx="5486400" cy="2377440"/>
          </a:xfrm>
          <a:prstGeom prst="roundRect">
            <a:avLst/>
          </a:prstGeom>
          <a:solidFill>
            <a:srgbClr val="F0F9F6"/>
          </a:solidFill>
          <a:ln w="25400">
            <a:solidFill>
              <a:srgbClr val="00B8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04C99"/>
                </a:solidFill>
              </a:defRPr>
            </a:pPr>
            <a:r>
              <a:t>Jira Products for Requirements</a:t>
            </a:r>
          </a:p>
          <a:p>
            <a:pPr algn="ctr"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Jira Software → Agile project management (Scrum/Kanban)</a:t>
            </a:r>
          </a:p>
          <a:p>
            <a:pPr algn="ctr"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Jira Service Management → Change &amp; IT service management</a:t>
            </a:r>
          </a:p>
          <a:p>
            <a:pPr algn="ctr"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Jira Work Management → Business team project tracking</a:t>
            </a:r>
          </a:p>
          <a:p>
            <a:pPr algn="ctr"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Jira Align → Enterprise Agile planning &amp; portfolio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4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4C99"/>
                </a:solidFill>
              </a:defRPr>
            </a:pPr>
            <a:r>
              <a:t>Requirements Management in Jira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CLO4: Agile Methodologies &amp; Jira for Requirements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Jira manages requirements through Issues, Epics, and User Stories organized in Agile Boards. The screenshot below shows a Kanban board with requirements flowing through workflow states.</a:t>
            </a:r>
          </a:p>
        </p:txBody>
      </p:sp>
      <p:pic>
        <p:nvPicPr>
          <p:cNvPr id="7" name="Picture 6" descr="5_Project_board_template_Ji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723" y="1737360"/>
            <a:ext cx="8766248" cy="427411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6035040"/>
            <a:ext cx="3474720" cy="502920"/>
          </a:xfrm>
          <a:prstGeom prst="roundRect">
            <a:avLst/>
          </a:prstGeom>
          <a:solidFill>
            <a:srgbClr val="E8F4FD"/>
          </a:solidFill>
          <a:ln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004C99"/>
                </a:solidFill>
              </a:defRPr>
            </a:pPr>
            <a:r>
              <a:t>Epics: Group related user stories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6035040"/>
            <a:ext cx="3474720" cy="502920"/>
          </a:xfrm>
          <a:prstGeom prst="roundRect">
            <a:avLst/>
          </a:prstGeom>
          <a:solidFill>
            <a:srgbClr val="FFF3E0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004C99"/>
                </a:solidFill>
              </a:defRPr>
            </a:pPr>
            <a:r>
              <a:rPr dirty="0"/>
              <a:t>Workflow: To Do → In Progress → Done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6035040"/>
            <a:ext cx="3474720" cy="502920"/>
          </a:xfrm>
          <a:prstGeom prst="roundRect">
            <a:avLst/>
          </a:prstGeom>
          <a:solidFill>
            <a:srgbClr val="F0F9F6"/>
          </a:solidFill>
          <a:ln>
            <a:solidFill>
              <a:srgbClr val="00B8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004C99"/>
                </a:solidFill>
              </a:defRPr>
            </a:pPr>
            <a:r>
              <a:t>Labels &amp; Priorities: Categorize requirements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4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4C99"/>
                </a:solidFill>
              </a:defRPr>
            </a:pPr>
            <a:r>
              <a:t>Requirements Management: 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340029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rPr dirty="0"/>
              <a:t> Agile Methodologies &amp; Jira for Requirements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486400" cy="493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04C99"/>
                </a:solidFill>
              </a:defRPr>
            </a:pPr>
            <a:r>
              <a:rPr dirty="0"/>
              <a:t>Creating Requirements in Jira</a:t>
            </a:r>
          </a:p>
          <a:p>
            <a:pPr>
              <a:spcAft>
                <a:spcPts val="900"/>
              </a:spcAft>
              <a:defRPr sz="1500">
                <a:solidFill>
                  <a:srgbClr val="333333"/>
                </a:solidFill>
              </a:defRPr>
            </a:pPr>
            <a:r>
              <a:rPr sz="1600" dirty="0"/>
              <a:t>• </a:t>
            </a:r>
            <a:r>
              <a:rPr sz="2000" dirty="0"/>
              <a:t>Issue Types: Epic, Story, Task, Bug, Sub-task</a:t>
            </a:r>
          </a:p>
          <a:p>
            <a:pPr>
              <a:spcAft>
                <a:spcPts val="900"/>
              </a:spcAft>
              <a:defRPr sz="1500">
                <a:solidFill>
                  <a:srgbClr val="333333"/>
                </a:solidFill>
              </a:defRPr>
            </a:pPr>
            <a:r>
              <a:rPr sz="2000" dirty="0"/>
              <a:t>• User Story Format: 'As a [user], I want [feature] so that [benefit]'</a:t>
            </a:r>
          </a:p>
          <a:p>
            <a:pPr>
              <a:spcAft>
                <a:spcPts val="900"/>
              </a:spcAft>
              <a:defRPr sz="1500">
                <a:solidFill>
                  <a:srgbClr val="333333"/>
                </a:solidFill>
              </a:defRPr>
            </a:pPr>
            <a:r>
              <a:rPr sz="2000" dirty="0"/>
              <a:t>• Acceptance Criteria: Defined in issue description or custom fields</a:t>
            </a:r>
          </a:p>
          <a:p>
            <a:pPr>
              <a:spcAft>
                <a:spcPts val="900"/>
              </a:spcAft>
              <a:defRPr sz="1500">
                <a:solidFill>
                  <a:srgbClr val="333333"/>
                </a:solidFill>
              </a:defRPr>
            </a:pPr>
            <a:r>
              <a:rPr sz="2000" dirty="0"/>
              <a:t>• Story Points: Effort estimation using Fibonacci scale (1,2,3,5,8,13)</a:t>
            </a:r>
          </a:p>
          <a:p>
            <a:pPr>
              <a:spcAft>
                <a:spcPts val="900"/>
              </a:spcAft>
              <a:defRPr sz="1500">
                <a:solidFill>
                  <a:srgbClr val="333333"/>
                </a:solidFill>
              </a:defRPr>
            </a:pPr>
            <a:r>
              <a:rPr sz="2000" dirty="0"/>
              <a:t>• Priority Levels: Highest, High, Medium, Low, Lowest</a:t>
            </a:r>
          </a:p>
          <a:p>
            <a:pPr>
              <a:spcAft>
                <a:spcPts val="900"/>
              </a:spcAft>
              <a:defRPr sz="1500">
                <a:solidFill>
                  <a:srgbClr val="333333"/>
                </a:solidFill>
              </a:defRPr>
            </a:pPr>
            <a:r>
              <a:rPr sz="2000" dirty="0"/>
              <a:t>• Components: Group requirements by system module</a:t>
            </a:r>
          </a:p>
          <a:p>
            <a:pPr>
              <a:spcAft>
                <a:spcPts val="900"/>
              </a:spcAft>
              <a:defRPr sz="1500">
                <a:solidFill>
                  <a:srgbClr val="333333"/>
                </a:solidFill>
              </a:defRPr>
            </a:pPr>
            <a:r>
              <a:rPr sz="2000" dirty="0"/>
              <a:t>• Labels: Free-form tags for categorization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1097280"/>
            <a:ext cx="5941102" cy="4693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04C99"/>
                </a:solidFill>
              </a:defRPr>
            </a:pPr>
            <a:r>
              <a:rPr sz="2400" dirty="0"/>
              <a:t>Backlog &amp; Sprint Management</a:t>
            </a:r>
          </a:p>
          <a:p>
            <a:pPr>
              <a:spcAft>
                <a:spcPts val="900"/>
              </a:spcAft>
              <a:defRPr sz="1500">
                <a:solidFill>
                  <a:srgbClr val="333333"/>
                </a:solidFill>
              </a:defRPr>
            </a:pPr>
            <a:r>
              <a:rPr sz="2000" dirty="0"/>
              <a:t>• Product Backlog: Single source of truth for all requirements</a:t>
            </a:r>
          </a:p>
          <a:p>
            <a:pPr>
              <a:spcAft>
                <a:spcPts val="900"/>
              </a:spcAft>
              <a:defRPr sz="1500">
                <a:solidFill>
                  <a:srgbClr val="333333"/>
                </a:solidFill>
              </a:defRPr>
            </a:pPr>
            <a:r>
              <a:rPr sz="2000" dirty="0"/>
              <a:t>• Sprint Backlog: Subset selected for current iteration</a:t>
            </a:r>
          </a:p>
          <a:p>
            <a:pPr>
              <a:spcAft>
                <a:spcPts val="900"/>
              </a:spcAft>
              <a:defRPr sz="1500">
                <a:solidFill>
                  <a:srgbClr val="333333"/>
                </a:solidFill>
              </a:defRPr>
            </a:pPr>
            <a:r>
              <a:rPr sz="2000" dirty="0"/>
              <a:t>• Sprint Planning: Team commits to deliver selected stories</a:t>
            </a:r>
          </a:p>
          <a:p>
            <a:pPr>
              <a:spcAft>
                <a:spcPts val="900"/>
              </a:spcAft>
              <a:defRPr sz="1500">
                <a:solidFill>
                  <a:srgbClr val="333333"/>
                </a:solidFill>
              </a:defRPr>
            </a:pPr>
            <a:r>
              <a:rPr sz="2000" dirty="0"/>
              <a:t>• Definition of Ready: Clear, estimated, and testable before sprint</a:t>
            </a:r>
          </a:p>
          <a:p>
            <a:pPr>
              <a:spcAft>
                <a:spcPts val="900"/>
              </a:spcAft>
              <a:defRPr sz="1500">
                <a:solidFill>
                  <a:srgbClr val="333333"/>
                </a:solidFill>
              </a:defRPr>
            </a:pPr>
            <a:r>
              <a:rPr sz="2000" dirty="0"/>
              <a:t>• Definition of Done: All acceptance criteria met, tested, reviewed</a:t>
            </a:r>
          </a:p>
          <a:p>
            <a:pPr>
              <a:spcAft>
                <a:spcPts val="900"/>
              </a:spcAft>
              <a:defRPr sz="1500">
                <a:solidFill>
                  <a:srgbClr val="333333"/>
                </a:solidFill>
              </a:defRPr>
            </a:pPr>
            <a:r>
              <a:rPr sz="2000" dirty="0"/>
              <a:t>• Burndown Chart: Track remaining work during sprint</a:t>
            </a:r>
          </a:p>
          <a:p>
            <a:pPr>
              <a:spcAft>
                <a:spcPts val="900"/>
              </a:spcAft>
              <a:defRPr sz="1500">
                <a:solidFill>
                  <a:srgbClr val="333333"/>
                </a:solidFill>
              </a:defRPr>
            </a:pPr>
            <a:r>
              <a:rPr sz="2000" dirty="0"/>
              <a:t>• Velocity Chart: Measure team capacity over sprints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4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4C99"/>
                </a:solidFill>
              </a:defRPr>
            </a:pPr>
            <a:r>
              <a:t>Requirement Traceability in Jira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340029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rPr dirty="0"/>
              <a:t> Agile Methodologies &amp; Jira for Requirements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Traceability ensures every requirement can be tracked forward to design, code, tests, and defects — and backward to its origin. Jira provides built-in linking and RTM (Requirements &amp; Test Management) apps.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4C99"/>
                </a:solidFill>
              </a:defRPr>
            </a:pPr>
            <a:r>
              <a:rPr dirty="0"/>
              <a:t>Types of Traceability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rPr dirty="0"/>
              <a:t>▸ Forward Traceability: Req → Design → Code → Test Case → Result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rPr dirty="0"/>
              <a:t>▸ Backward Traceability: Test Case → Code → Design → Requirement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rPr dirty="0"/>
              <a:t>▸ Bi-directional: Both directions for full coverage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rPr dirty="0"/>
              <a:t>▸ Cross-project: Link requirements across multiple Jira projects</a:t>
            </a:r>
          </a:p>
          <a:p>
            <a:pPr>
              <a:spcAft>
                <a:spcPts val="500"/>
              </a:spcAft>
            </a:pPr>
            <a:endParaRPr dirty="0"/>
          </a:p>
          <a:p>
            <a:pPr>
              <a:spcAft>
                <a:spcPts val="1000"/>
              </a:spcAft>
              <a:defRPr sz="1800" b="1">
                <a:solidFill>
                  <a:srgbClr val="004C99"/>
                </a:solidFill>
              </a:defRPr>
            </a:pPr>
            <a:r>
              <a:rPr dirty="0"/>
              <a:t>Jira Link Types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rPr dirty="0"/>
              <a:t>• Relates to / Blocks / Is blocked by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rPr dirty="0"/>
              <a:t>• Tests / Is tested by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rPr dirty="0"/>
              <a:t>• Covers / Is covered by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rPr dirty="0"/>
              <a:t>• Clones / Is cloned by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rPr dirty="0"/>
              <a:t>• Duplicates / Is duplicated by</a:t>
            </a:r>
          </a:p>
        </p:txBody>
      </p:sp>
      <p:pic>
        <p:nvPicPr>
          <p:cNvPr id="8" name="Picture 7" descr="7_Requirement_Traceability_Matrix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91640"/>
            <a:ext cx="5943600" cy="4389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60720" y="603504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666666"/>
                </a:solidFill>
              </a:defRPr>
            </a:pPr>
            <a:r>
              <a:t>Fig: Jira Traceability Matrix showing requirement-to-test-case links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4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4C99"/>
                </a:solidFill>
              </a:defRPr>
            </a:pPr>
            <a:r>
              <a:t>Traceability Matrix (RTM) in Jira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337143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rPr dirty="0"/>
              <a:t>Agile Methodologies &amp; Jira for Requirements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The Requirements Traceability Matrix (RTM) maps each requirement to its associated test cases, defects, and implementation status.</a:t>
            </a:r>
          </a:p>
        </p:txBody>
      </p:sp>
      <p:pic>
        <p:nvPicPr>
          <p:cNvPr id="7" name="Picture 6" descr="2_Solved_How_can_I_create_requir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494" y="1874520"/>
            <a:ext cx="8450705" cy="37947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5989320"/>
            <a:ext cx="3566160" cy="502920"/>
          </a:xfrm>
          <a:prstGeom prst="roundRect">
            <a:avLst/>
          </a:prstGeom>
          <a:solidFill>
            <a:srgbClr val="E8F4FD"/>
          </a:solidFill>
          <a:ln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04C99"/>
                </a:solidFill>
              </a:defRPr>
            </a:pPr>
            <a:r>
              <a:t>Requirements (Rows) vs Test Cases (Cols)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5989320"/>
            <a:ext cx="3566160" cy="502920"/>
          </a:xfrm>
          <a:prstGeom prst="roundRect">
            <a:avLst/>
          </a:prstGeom>
          <a:solidFill>
            <a:srgbClr val="FFF3E0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04C99"/>
                </a:solidFill>
              </a:defRPr>
            </a:pPr>
            <a:r>
              <a:t>Status Indicators: OPEN, FINAL, NEW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5989320"/>
            <a:ext cx="3566160" cy="502920"/>
          </a:xfrm>
          <a:prstGeom prst="roundRect">
            <a:avLst/>
          </a:prstGeom>
          <a:solidFill>
            <a:srgbClr val="F0F9F6"/>
          </a:solidFill>
          <a:ln>
            <a:solidFill>
              <a:srgbClr val="00B8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04C99"/>
                </a:solidFill>
              </a:defRPr>
            </a:pPr>
            <a:r>
              <a:t>Coverage Gaps highlighted automatically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4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4C99"/>
                </a:solidFill>
              </a:defRPr>
            </a:pPr>
            <a:r>
              <a:t>Requirement Relations &amp; Issue Linking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340029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rPr dirty="0"/>
              <a:t> Agile Methodologies &amp; Jira for Requirements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Jira allows creating direct and indirect relations between requirements, test cases, and other artifacts. This enables full lifecycle traceability.</a:t>
            </a:r>
          </a:p>
        </p:txBody>
      </p:sp>
      <p:pic>
        <p:nvPicPr>
          <p:cNvPr id="7" name="Picture 6" descr="8_Requirements_management_6_best_pract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4621"/>
            <a:ext cx="11247120" cy="457325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5989320"/>
            <a:ext cx="3566160" cy="502920"/>
          </a:xfrm>
          <a:prstGeom prst="roundRect">
            <a:avLst/>
          </a:prstGeom>
          <a:solidFill>
            <a:srgbClr val="E8F4FD"/>
          </a:solidFill>
          <a:ln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04C99"/>
                </a:solidFill>
              </a:defRPr>
            </a:pPr>
            <a:r>
              <a:t>Direct Links: Manually created between issues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5989320"/>
            <a:ext cx="3566160" cy="502920"/>
          </a:xfrm>
          <a:prstGeom prst="roundRect">
            <a:avLst/>
          </a:prstGeom>
          <a:solidFill>
            <a:srgbClr val="FFF3E0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04C99"/>
                </a:solidFill>
              </a:defRPr>
            </a:pPr>
            <a:r>
              <a:t>Indirect Relations: Auto-generated via structure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5989320"/>
            <a:ext cx="3566160" cy="502920"/>
          </a:xfrm>
          <a:prstGeom prst="roundRect">
            <a:avLst/>
          </a:prstGeom>
          <a:solidFill>
            <a:srgbClr val="F0F9F6"/>
          </a:solidFill>
          <a:ln>
            <a:solidFill>
              <a:srgbClr val="00B8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04C99"/>
                </a:solidFill>
              </a:defRPr>
            </a:pPr>
            <a:r>
              <a:t>Coverage: Tested by, Covered by, Verified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4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4C99"/>
                </a:solidFill>
              </a:defRPr>
            </a:pPr>
            <a:r>
              <a:t>Requirement Change Management in Jira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340029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rPr dirty="0"/>
              <a:t> Agile Methodologies &amp; Jira for Requirements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486400" cy="3901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04C99"/>
                </a:solidFill>
              </a:defRPr>
            </a:pPr>
            <a:r>
              <a:rPr dirty="0"/>
              <a:t>Why Change Management Matters</a:t>
            </a:r>
          </a:p>
          <a:p>
            <a:pPr>
              <a:spcAft>
                <a:spcPts val="900"/>
              </a:spcAft>
              <a:defRPr sz="1500">
                <a:solidFill>
                  <a:srgbClr val="333333"/>
                </a:solidFill>
              </a:defRPr>
            </a:pPr>
            <a:r>
              <a:rPr sz="2000" dirty="0"/>
              <a:t>• Agile welcomes change — but it must be controlled</a:t>
            </a:r>
          </a:p>
          <a:p>
            <a:pPr>
              <a:spcAft>
                <a:spcPts val="900"/>
              </a:spcAft>
              <a:defRPr sz="1500">
                <a:solidFill>
                  <a:srgbClr val="333333"/>
                </a:solidFill>
              </a:defRPr>
            </a:pPr>
            <a:r>
              <a:rPr sz="2000" dirty="0"/>
              <a:t>• Unmanaged changes lead to scope creep and missed deadlines</a:t>
            </a:r>
          </a:p>
          <a:p>
            <a:pPr>
              <a:spcAft>
                <a:spcPts val="900"/>
              </a:spcAft>
              <a:defRPr sz="1500">
                <a:solidFill>
                  <a:srgbClr val="333333"/>
                </a:solidFill>
              </a:defRPr>
            </a:pPr>
            <a:r>
              <a:rPr sz="2000" dirty="0"/>
              <a:t>• Every requirement change needs impact analysis</a:t>
            </a:r>
          </a:p>
          <a:p>
            <a:pPr>
              <a:spcAft>
                <a:spcPts val="900"/>
              </a:spcAft>
              <a:defRPr sz="1500">
                <a:solidFill>
                  <a:srgbClr val="333333"/>
                </a:solidFill>
              </a:defRPr>
            </a:pPr>
            <a:r>
              <a:rPr sz="2000" dirty="0"/>
              <a:t>• Stakeholders must be informed of change consequences</a:t>
            </a:r>
          </a:p>
          <a:p>
            <a:pPr>
              <a:spcAft>
                <a:spcPts val="900"/>
              </a:spcAft>
              <a:defRPr sz="1500">
                <a:solidFill>
                  <a:srgbClr val="333333"/>
                </a:solidFill>
              </a:defRPr>
            </a:pPr>
            <a:r>
              <a:rPr sz="2000" dirty="0"/>
              <a:t>• Audit trail ensures compliance and accountability</a:t>
            </a:r>
          </a:p>
          <a:p>
            <a:pPr>
              <a:spcAft>
                <a:spcPts val="900"/>
              </a:spcAft>
              <a:defRPr sz="1500">
                <a:solidFill>
                  <a:srgbClr val="333333"/>
                </a:solidFill>
              </a:defRPr>
            </a:pPr>
            <a:r>
              <a:rPr sz="2000" dirty="0"/>
              <a:t>• Jira workflows enforce approval gates for changes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188720"/>
            <a:ext cx="5486400" cy="4572000"/>
          </a:xfrm>
          <a:prstGeom prst="roundRect">
            <a:avLst/>
          </a:prstGeom>
          <a:solidFill>
            <a:srgbClr val="FFF8F0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004C99"/>
                </a:solidFill>
              </a:defRPr>
            </a:pPr>
            <a:r>
              <a:t>Change Management Process in Jira</a:t>
            </a:r>
          </a:p>
          <a:p>
            <a:pPr algn="ctr">
              <a:spcAft>
                <a:spcPts val="700"/>
              </a:spcAft>
              <a:defRPr sz="1400">
                <a:solidFill>
                  <a:srgbClr val="333333"/>
                </a:solidFill>
              </a:defRPr>
            </a:pPr>
            <a:r>
              <a:t>1. Change Request: New issue or modify existing requirement</a:t>
            </a:r>
          </a:p>
          <a:p>
            <a:pPr algn="ctr">
              <a:spcAft>
                <a:spcPts val="700"/>
              </a:spcAft>
              <a:defRPr sz="1400">
                <a:solidFill>
                  <a:srgbClr val="333333"/>
                </a:solidFill>
              </a:defRPr>
            </a:pPr>
            <a:r>
              <a:t>2. Impact Analysis: Check linked items (tests, code, docs)</a:t>
            </a:r>
          </a:p>
          <a:p>
            <a:pPr algn="ctr">
              <a:spcAft>
                <a:spcPts val="700"/>
              </a:spcAft>
              <a:defRPr sz="1400">
                <a:solidFill>
                  <a:srgbClr val="333333"/>
                </a:solidFill>
              </a:defRPr>
            </a:pPr>
            <a:r>
              <a:t>3. Approval Workflow: Review → Planning → CAB Review</a:t>
            </a:r>
          </a:p>
          <a:p>
            <a:pPr algn="ctr">
              <a:spcAft>
                <a:spcPts val="700"/>
              </a:spcAft>
              <a:defRPr sz="1400">
                <a:solidFill>
                  <a:srgbClr val="333333"/>
                </a:solidFill>
              </a:defRPr>
            </a:pPr>
            <a:r>
              <a:t>4. Implementation: Update requirement and linked artifacts</a:t>
            </a:r>
          </a:p>
          <a:p>
            <a:pPr algn="ctr">
              <a:spcAft>
                <a:spcPts val="700"/>
              </a:spcAft>
              <a:defRPr sz="1400">
                <a:solidFill>
                  <a:srgbClr val="333333"/>
                </a:solidFill>
              </a:defRPr>
            </a:pPr>
            <a:r>
              <a:t>5. Verification: Re-run tests to ensure no regression</a:t>
            </a:r>
          </a:p>
          <a:p>
            <a:pPr algn="ctr">
              <a:spcAft>
                <a:spcPts val="700"/>
              </a:spcAft>
              <a:defRPr sz="1400">
                <a:solidFill>
                  <a:srgbClr val="333333"/>
                </a:solidFill>
              </a:defRPr>
            </a:pPr>
            <a:r>
              <a:t>6. Closure: Post-implementation review and documentation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4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4C99"/>
                </a:solidFill>
              </a:defRPr>
            </a:pPr>
            <a:r>
              <a:t>Jira Change Management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337143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rPr dirty="0"/>
              <a:t>Agile Methodologies &amp; Jira for Requirements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Jira Service Management provides pre-built change management workflows with approval stages, ensuring controlled and auditable requirement changes.</a:t>
            </a:r>
          </a:p>
        </p:txBody>
      </p:sp>
      <p:pic>
        <p:nvPicPr>
          <p:cNvPr id="7" name="Picture 6" descr="6_Managing_changes_with_your_IT_serv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0655" y="1279185"/>
            <a:ext cx="6317645" cy="443581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5989320"/>
            <a:ext cx="3566160" cy="502920"/>
          </a:xfrm>
          <a:prstGeom prst="roundRect">
            <a:avLst/>
          </a:prstGeom>
          <a:solidFill>
            <a:srgbClr val="E8F4FD"/>
          </a:solidFill>
          <a:ln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04C99"/>
                </a:solidFill>
              </a:defRPr>
            </a:pPr>
            <a:r>
              <a:t>Review → Planning → Approving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5989320"/>
            <a:ext cx="3566160" cy="502920"/>
          </a:xfrm>
          <a:prstGeom prst="roundRect">
            <a:avLst/>
          </a:prstGeom>
          <a:solidFill>
            <a:srgbClr val="FFF3E0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04C99"/>
                </a:solidFill>
              </a:defRPr>
            </a:pPr>
            <a:r>
              <a:t>CAB Review → Implementation → Post-Review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4708" y="5989320"/>
            <a:ext cx="3566160" cy="502920"/>
          </a:xfrm>
          <a:prstGeom prst="roundRect">
            <a:avLst/>
          </a:prstGeom>
          <a:solidFill>
            <a:srgbClr val="F0F9F6"/>
          </a:solidFill>
          <a:ln>
            <a:solidFill>
              <a:srgbClr val="00B8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04C99"/>
                </a:solidFill>
              </a:defRPr>
            </a:pPr>
            <a:r>
              <a:t>Completed / Closed / Declined / Canceled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4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4C99"/>
                </a:solidFill>
              </a:defRPr>
            </a:pPr>
            <a:r>
              <a:t>Requirements Evaluation in Jira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337143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rPr dirty="0"/>
              <a:t>Agile Methodologies &amp; Jira for Requirements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486400" cy="3285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04C99"/>
                </a:solidFill>
              </a:defRPr>
            </a:pPr>
            <a:r>
              <a:rPr dirty="0"/>
              <a:t>What is Requirements Evaluation?</a:t>
            </a:r>
          </a:p>
          <a:p>
            <a:pPr>
              <a:spcAft>
                <a:spcPts val="900"/>
              </a:spcAft>
              <a:defRPr sz="1500">
                <a:solidFill>
                  <a:srgbClr val="333333"/>
                </a:solidFill>
              </a:defRPr>
            </a:pPr>
            <a:r>
              <a:rPr sz="2000" dirty="0"/>
              <a:t>• Verifying requirements are complete, correct, and feasible</a:t>
            </a:r>
          </a:p>
          <a:p>
            <a:pPr>
              <a:spcAft>
                <a:spcPts val="900"/>
              </a:spcAft>
              <a:defRPr sz="1500">
                <a:solidFill>
                  <a:srgbClr val="333333"/>
                </a:solidFill>
              </a:defRPr>
            </a:pPr>
            <a:r>
              <a:rPr sz="2000" dirty="0"/>
              <a:t>• Checking test coverage for each requirement</a:t>
            </a:r>
          </a:p>
          <a:p>
            <a:pPr>
              <a:spcAft>
                <a:spcPts val="900"/>
              </a:spcAft>
              <a:defRPr sz="1500">
                <a:solidFill>
                  <a:srgbClr val="333333"/>
                </a:solidFill>
              </a:defRPr>
            </a:pPr>
            <a:r>
              <a:rPr sz="2000" dirty="0"/>
              <a:t>• Measuring requirement quality and stability</a:t>
            </a:r>
          </a:p>
          <a:p>
            <a:pPr>
              <a:spcAft>
                <a:spcPts val="900"/>
              </a:spcAft>
              <a:defRPr sz="1500">
                <a:solidFill>
                  <a:srgbClr val="333333"/>
                </a:solidFill>
              </a:defRPr>
            </a:pPr>
            <a:r>
              <a:rPr sz="2000" dirty="0"/>
              <a:t>• Tracking sprint velocity and team capacity</a:t>
            </a:r>
          </a:p>
          <a:p>
            <a:pPr>
              <a:spcAft>
                <a:spcPts val="900"/>
              </a:spcAft>
              <a:defRPr sz="1500">
                <a:solidFill>
                  <a:srgbClr val="333333"/>
                </a:solidFill>
              </a:defRPr>
            </a:pPr>
            <a:r>
              <a:rPr sz="2000" dirty="0"/>
              <a:t>• Identifying risks and blockers early</a:t>
            </a:r>
          </a:p>
          <a:p>
            <a:pPr>
              <a:spcAft>
                <a:spcPts val="900"/>
              </a:spcAft>
              <a:defRPr sz="1500">
                <a:solidFill>
                  <a:srgbClr val="333333"/>
                </a:solidFill>
              </a:defRPr>
            </a:pPr>
            <a:r>
              <a:rPr sz="2000" dirty="0"/>
              <a:t>• Ensuring 'Definition of Done' is met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188720"/>
            <a:ext cx="5486400" cy="4572000"/>
          </a:xfrm>
          <a:prstGeom prst="roundRect">
            <a:avLst/>
          </a:prstGeom>
          <a:solidFill>
            <a:srgbClr val="F5F0FF"/>
          </a:solidFill>
          <a:ln w="25400">
            <a:solidFill>
              <a:srgbClr val="7B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004C99"/>
                </a:solidFill>
              </a:defRPr>
            </a:pPr>
            <a:r>
              <a:t>Evaluation Metrics in Jira</a:t>
            </a:r>
          </a:p>
          <a:p>
            <a:pPr algn="ctr">
              <a:spcAft>
                <a:spcPts val="700"/>
              </a:spcAft>
              <a:defRPr sz="1400">
                <a:solidFill>
                  <a:srgbClr val="333333"/>
                </a:solidFill>
              </a:defRPr>
            </a:pPr>
            <a:r>
              <a:t>▸ Test Coverage: % of requirements with test cases</a:t>
            </a:r>
          </a:p>
          <a:p>
            <a:pPr algn="ctr">
              <a:spcAft>
                <a:spcPts val="700"/>
              </a:spcAft>
              <a:defRPr sz="1400">
                <a:solidFill>
                  <a:srgbClr val="333333"/>
                </a:solidFill>
              </a:defRPr>
            </a:pPr>
            <a:r>
              <a:t>▸ Test Execution: Pass/Fail/Blocked/Not Run rates</a:t>
            </a:r>
          </a:p>
          <a:p>
            <a:pPr algn="ctr">
              <a:spcAft>
                <a:spcPts val="700"/>
              </a:spcAft>
              <a:defRPr sz="1400">
                <a:solidFill>
                  <a:srgbClr val="333333"/>
                </a:solidFill>
              </a:defRPr>
            </a:pPr>
            <a:r>
              <a:t>▸ Defect Density: Bugs per requirement</a:t>
            </a:r>
          </a:p>
          <a:p>
            <a:pPr algn="ctr">
              <a:spcAft>
                <a:spcPts val="700"/>
              </a:spcAft>
              <a:defRPr sz="1400">
                <a:solidFill>
                  <a:srgbClr val="333333"/>
                </a:solidFill>
              </a:defRPr>
            </a:pPr>
            <a:r>
              <a:t>▸ Sprint Velocity: Story points completed per sprint</a:t>
            </a:r>
          </a:p>
          <a:p>
            <a:pPr algn="ctr">
              <a:spcAft>
                <a:spcPts val="700"/>
              </a:spcAft>
              <a:defRPr sz="1400">
                <a:solidFill>
                  <a:srgbClr val="333333"/>
                </a:solidFill>
              </a:defRPr>
            </a:pPr>
            <a:r>
              <a:t>▸ Burndown Rate: Work remaining vs time</a:t>
            </a:r>
          </a:p>
          <a:p>
            <a:pPr algn="ctr">
              <a:spcAft>
                <a:spcPts val="700"/>
              </a:spcAft>
              <a:defRPr sz="1400">
                <a:solidFill>
                  <a:srgbClr val="333333"/>
                </a:solidFill>
              </a:defRPr>
            </a:pPr>
            <a:r>
              <a:t>▸ Requirement Stability: Change frequency over time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4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4C99"/>
                </a:solidFill>
              </a:defRPr>
            </a:pPr>
            <a:r>
              <a:t>Requirement Test Coverage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340029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rPr dirty="0"/>
              <a:t> Agile Methodologies &amp; Jira for Requirements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Jira's Requirements &amp; Test Management (RTM) app generates coverage reports showing which requirements have test cases, test plans, and defects linked.</a:t>
            </a:r>
          </a:p>
        </p:txBody>
      </p:sp>
      <p:pic>
        <p:nvPicPr>
          <p:cNvPr id="7" name="Picture 6" descr="3_Requirements_management_6_best_pract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183" y="1496186"/>
            <a:ext cx="10055402" cy="440169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5989320"/>
            <a:ext cx="3566160" cy="502920"/>
          </a:xfrm>
          <a:prstGeom prst="roundRect">
            <a:avLst/>
          </a:prstGeom>
          <a:solidFill>
            <a:srgbClr val="E8F4FD"/>
          </a:solidFill>
          <a:ln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04C99"/>
                </a:solidFill>
              </a:defRPr>
            </a:pPr>
            <a:r>
              <a:t>Requirements → Test Cases → Test Plans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5989320"/>
            <a:ext cx="3566160" cy="502920"/>
          </a:xfrm>
          <a:prstGeom prst="roundRect">
            <a:avLst/>
          </a:prstGeom>
          <a:solidFill>
            <a:srgbClr val="FFF3E0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04C99"/>
                </a:solidFill>
              </a:defRPr>
            </a:pPr>
            <a:r>
              <a:t>Test Executions &amp; Defects linked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5989320"/>
            <a:ext cx="3566160" cy="502920"/>
          </a:xfrm>
          <a:prstGeom prst="roundRect">
            <a:avLst/>
          </a:prstGeom>
          <a:solidFill>
            <a:srgbClr val="F0F9F6"/>
          </a:solidFill>
          <a:ln>
            <a:solidFill>
              <a:srgbClr val="00B8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04C99"/>
                </a:solidFill>
              </a:defRPr>
            </a:pPr>
            <a:r>
              <a:t>Coverage: Covered vs Uncovered status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4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4C99"/>
                </a:solidFill>
              </a:defRPr>
            </a:pPr>
            <a:r>
              <a:t>Test Execution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337143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rPr dirty="0"/>
              <a:t>Agile Methodologies &amp; Jira for Requirements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Jira dashboards visualize test execution status with charts showing passed, failed, blocked, and in-progress test cases for requirements validation.</a:t>
            </a:r>
          </a:p>
        </p:txBody>
      </p:sp>
      <p:pic>
        <p:nvPicPr>
          <p:cNvPr id="7" name="Picture 6" descr="1_Dashboards_Requirements_and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48097"/>
            <a:ext cx="11247120" cy="40476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5989320"/>
            <a:ext cx="3566160" cy="502920"/>
          </a:xfrm>
          <a:prstGeom prst="roundRect">
            <a:avLst/>
          </a:prstGeom>
          <a:solidFill>
            <a:srgbClr val="E8F4FD"/>
          </a:solidFill>
          <a:ln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04C99"/>
                </a:solidFill>
              </a:defRPr>
            </a:pPr>
            <a:r>
              <a:t>Total Test Cases: 10,095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5989320"/>
            <a:ext cx="3566160" cy="502920"/>
          </a:xfrm>
          <a:prstGeom prst="roundRect">
            <a:avLst/>
          </a:prstGeom>
          <a:solidFill>
            <a:srgbClr val="FFF3E0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04C99"/>
                </a:solidFill>
              </a:defRPr>
            </a:pPr>
            <a:r>
              <a:t>Status Breakdown: Pass / Fail / Blocked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5989320"/>
            <a:ext cx="3566160" cy="502920"/>
          </a:xfrm>
          <a:prstGeom prst="roundRect">
            <a:avLst/>
          </a:prstGeom>
          <a:solidFill>
            <a:srgbClr val="F0F9F6"/>
          </a:solidFill>
          <a:ln>
            <a:solidFill>
              <a:srgbClr val="00B8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04C99"/>
                </a:solidFill>
              </a:defRPr>
            </a:pPr>
            <a:r>
              <a:t>Pie Chart: Visual execution summary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4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4C99"/>
                </a:solidFill>
              </a:defRPr>
            </a:pPr>
            <a:r>
              <a:t>Jira Dashboards for Requirements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CLO4: Agile Methodologies &amp; Jira for Requirements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Jira dashboards combine multiple gadgets to provide real-time visibility into project health, sprint progress, and requirement quality metrics.</a:t>
            </a:r>
          </a:p>
        </p:txBody>
      </p:sp>
      <p:pic>
        <p:nvPicPr>
          <p:cNvPr id="7" name="Picture 6" descr="4_Jira_Dashboards_Made_Simple_The_W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64854"/>
            <a:ext cx="11247120" cy="44873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5989320"/>
            <a:ext cx="3566160" cy="502920"/>
          </a:xfrm>
          <a:prstGeom prst="roundRect">
            <a:avLst/>
          </a:prstGeom>
          <a:solidFill>
            <a:srgbClr val="E8F4FD"/>
          </a:solidFill>
          <a:ln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04C99"/>
                </a:solidFill>
              </a:defRPr>
            </a:pPr>
            <a:r>
              <a:t>Sprint Health &amp; Progress Gadgets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5989320"/>
            <a:ext cx="3566160" cy="502920"/>
          </a:xfrm>
          <a:prstGeom prst="roundRect">
            <a:avLst/>
          </a:prstGeom>
          <a:solidFill>
            <a:srgbClr val="FFF3E0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04C99"/>
                </a:solidFill>
              </a:defRPr>
            </a:pPr>
            <a:r>
              <a:t>Issue Type Distribution Charts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5989320"/>
            <a:ext cx="3566160" cy="502920"/>
          </a:xfrm>
          <a:prstGeom prst="roundRect">
            <a:avLst/>
          </a:prstGeom>
          <a:solidFill>
            <a:srgbClr val="F0F9F6"/>
          </a:solidFill>
          <a:ln>
            <a:solidFill>
              <a:srgbClr val="00B8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04C99"/>
                </a:solidFill>
              </a:defRPr>
            </a:pPr>
            <a:r>
              <a:t>Activity Stream &amp; Assigned Issues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4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4C99"/>
                </a:solidFill>
              </a:defRPr>
            </a:pPr>
            <a:r>
              <a:t>Custom Reports &amp; Charts for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337945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rPr dirty="0"/>
              <a:t> Agile Methodologies &amp; Jira for Requirements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Advanced reporting apps in Jira generate custom charts for status categories, ticket trends, support metrics, and app-specific analysis.</a:t>
            </a:r>
          </a:p>
        </p:txBody>
      </p:sp>
      <p:pic>
        <p:nvPicPr>
          <p:cNvPr id="7" name="Picture 6" descr="9_Solved_The_Perfect_Dashboard_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11247120" cy="42976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5989320"/>
            <a:ext cx="3566160" cy="502920"/>
          </a:xfrm>
          <a:prstGeom prst="roundRect">
            <a:avLst/>
          </a:prstGeom>
          <a:solidFill>
            <a:srgbClr val="E8F4FD"/>
          </a:solidFill>
          <a:ln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04C99"/>
                </a:solidFill>
              </a:defRPr>
            </a:pPr>
            <a:r>
              <a:t>Status Category Pie Charts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5989320"/>
            <a:ext cx="3566160" cy="502920"/>
          </a:xfrm>
          <a:prstGeom prst="roundRect">
            <a:avLst/>
          </a:prstGeom>
          <a:solidFill>
            <a:srgbClr val="FFF3E0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04C99"/>
                </a:solidFill>
              </a:defRPr>
            </a:pPr>
            <a:r>
              <a:t>Trend Analysis: Created tickets over 12 months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5989320"/>
            <a:ext cx="3566160" cy="502920"/>
          </a:xfrm>
          <a:prstGeom prst="roundRect">
            <a:avLst/>
          </a:prstGeom>
          <a:solidFill>
            <a:srgbClr val="F0F9F6"/>
          </a:solidFill>
          <a:ln>
            <a:solidFill>
              <a:srgbClr val="00B8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04C99"/>
                </a:solidFill>
              </a:defRPr>
            </a:pPr>
            <a:r>
              <a:t>Stacked Bar Charts by App/Component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4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4C99"/>
                </a:solidFill>
              </a:defRPr>
            </a:pPr>
            <a:r>
              <a:t>Sprint Board: Agile Requirements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324800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rPr dirty="0"/>
              <a:t>Agile Methodologies &amp; Jira for Requirements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The Sprint Board visualizes requirements moving through Agile workflow states during a sprint, enabling real-time progress tracking.</a:t>
            </a:r>
          </a:p>
        </p:txBody>
      </p:sp>
      <p:pic>
        <p:nvPicPr>
          <p:cNvPr id="7" name="Picture 6" descr="10_Sprint_to_Success_with_Jira_Scr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464862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5989320"/>
            <a:ext cx="3566160" cy="502920"/>
          </a:xfrm>
          <a:prstGeom prst="roundRect">
            <a:avLst/>
          </a:prstGeom>
          <a:solidFill>
            <a:srgbClr val="E8F4FD"/>
          </a:solidFill>
          <a:ln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04C99"/>
                </a:solidFill>
              </a:defRPr>
            </a:pPr>
            <a:r>
              <a:t>To Do → In Progress → In Review → Done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5989320"/>
            <a:ext cx="3566160" cy="502920"/>
          </a:xfrm>
          <a:prstGeom prst="roundRect">
            <a:avLst/>
          </a:prstGeom>
          <a:solidFill>
            <a:srgbClr val="FFF3E0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04C99"/>
                </a:solidFill>
              </a:defRPr>
            </a:pPr>
            <a:r>
              <a:t>Story Points &amp; Assignee visible per card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5989320"/>
            <a:ext cx="3566160" cy="502920"/>
          </a:xfrm>
          <a:prstGeom prst="roundRect">
            <a:avLst/>
          </a:prstGeom>
          <a:solidFill>
            <a:srgbClr val="F0F9F6"/>
          </a:solidFill>
          <a:ln>
            <a:solidFill>
              <a:srgbClr val="00B8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04C99"/>
                </a:solidFill>
              </a:defRPr>
            </a:pPr>
            <a:r>
              <a:t>Sprint progress: 4 days remaining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4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4C99"/>
                </a:solidFill>
              </a:defRPr>
            </a:pPr>
            <a:r>
              <a:t>Summary: Jira for Agile Requirements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CLO4: Agile Methodologies &amp; Jira for Requirements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2026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8925031"/>
              </p:ext>
            </p:extLst>
          </p:nvPr>
        </p:nvGraphicFramePr>
        <p:xfrm>
          <a:off x="457200" y="118872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Activity</a:t>
                      </a:r>
                    </a:p>
                  </a:txBody>
                  <a:tcPr>
                    <a:solidFill>
                      <a:srgbClr val="004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Jira Feature</a:t>
                      </a:r>
                    </a:p>
                  </a:txBody>
                  <a:tcPr>
                    <a:solidFill>
                      <a:srgbClr val="004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Agile Benefit</a:t>
                      </a:r>
                    </a:p>
                  </a:txBody>
                  <a:tcPr>
                    <a:solidFill>
                      <a:srgbClr val="004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Requirements</a:t>
                      </a:r>
                    </a:p>
                    <a:p>
                      <a:pPr algn="ctr"/>
                      <a:r>
                        <a:t>Management</a:t>
                      </a:r>
                    </a:p>
                  </a:txBody>
                  <a:tcPr anchor="ctr"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Issues, Epics,</a:t>
                      </a:r>
                    </a:p>
                    <a:p>
                      <a:r>
                        <a:t>Backlog, Sprints</a:t>
                      </a:r>
                    </a:p>
                  </a:txBody>
                  <a:tcPr anchor="ctr"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User stories as living</a:t>
                      </a:r>
                    </a:p>
                    <a:p>
                      <a:r>
                        <a:t>documents; iterative</a:t>
                      </a:r>
                    </a:p>
                    <a:p>
                      <a:r>
                        <a:t>refinement</a:t>
                      </a:r>
                    </a:p>
                  </a:txBody>
                  <a:tcPr anchor="ctr"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Requirement</a:t>
                      </a:r>
                    </a:p>
                    <a:p>
                      <a:pPr algn="ctr"/>
                      <a:r>
                        <a:rPr dirty="0"/>
                        <a:t>Traceability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Issue Links,</a:t>
                      </a:r>
                    </a:p>
                    <a:p>
                      <a:r>
                        <a:t>RTM Matrix,</a:t>
                      </a:r>
                    </a:p>
                    <a:p>
                      <a:r>
                        <a:t>Coverage Reports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End-to-end visibility;</a:t>
                      </a:r>
                    </a:p>
                    <a:p>
                      <a:r>
                        <a:t>impact analysis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Change</a:t>
                      </a:r>
                    </a:p>
                    <a:p>
                      <a:pPr algn="ctr"/>
                      <a:r>
                        <a:t>Management</a:t>
                      </a:r>
                    </a:p>
                  </a:txBody>
                  <a:tcPr anchor="ctr">
                    <a:solidFill>
                      <a:srgbClr val="F0F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Workflows, History,</a:t>
                      </a:r>
                    </a:p>
                    <a:p>
                      <a:r>
                        <a:t>Versioning, Approvals</a:t>
                      </a:r>
                    </a:p>
                  </a:txBody>
                  <a:tcPr anchor="ctr">
                    <a:solidFill>
                      <a:srgbClr val="F0F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Controlled flexibility;</a:t>
                      </a:r>
                    </a:p>
                    <a:p>
                      <a:r>
                        <a:t>audit trail</a:t>
                      </a:r>
                    </a:p>
                  </a:txBody>
                  <a:tcPr anchor="ctr">
                    <a:solidFill>
                      <a:srgbClr val="F0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Requirements</a:t>
                      </a:r>
                    </a:p>
                    <a:p>
                      <a:pPr algn="ctr"/>
                      <a:r>
                        <a:rPr dirty="0"/>
                        <a:t>Evaluation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Dashboards,</a:t>
                      </a:r>
                    </a:p>
                    <a:p>
                      <a:r>
                        <a:t>Reports, Velocity</a:t>
                      </a:r>
                    </a:p>
                    <a:p>
                      <a:r>
                        <a:t>Charts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Data-driven decisions;</a:t>
                      </a:r>
                    </a:p>
                    <a:p>
                      <a:r>
                        <a:rPr dirty="0"/>
                        <a:t>continuous improvement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4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4C99"/>
                </a:solidFill>
              </a:defRPr>
            </a:pPr>
            <a:r>
              <a:t>Practical Agile Workflow in Jira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340029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rPr dirty="0"/>
              <a:t> Agile Methodologies &amp; Jira for Requirements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691640" cy="1463040"/>
          </a:xfrm>
          <a:prstGeom prst="roundRect">
            <a:avLst/>
          </a:prstGeom>
          <a:solidFill>
            <a:srgbClr val="E8F4FD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04C99"/>
                </a:solidFill>
              </a:defRPr>
            </a:pPr>
            <a:r>
              <a:t>1. Create</a:t>
            </a:r>
            <a:br/>
            <a:r>
              <a:t>Epics &amp;</a:t>
            </a:r>
            <a:br/>
            <a:r>
              <a:t>Stories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67128" y="2029968"/>
            <a:ext cx="109728" cy="146304"/>
          </a:xfrm>
          <a:prstGeom prst="rightArrow">
            <a:avLst/>
          </a:prstGeom>
          <a:solidFill>
            <a:srgbClr val="004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286000" y="1371600"/>
            <a:ext cx="1691640" cy="146304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04C99"/>
                </a:solidFill>
              </a:defRPr>
            </a:pPr>
            <a:r>
              <a:t>2. Sprint</a:t>
            </a:r>
            <a:br/>
            <a:r>
              <a:t>Planning &amp;</a:t>
            </a:r>
            <a:br/>
            <a:r>
              <a:t>Backlog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995928" y="2029968"/>
            <a:ext cx="109728" cy="146304"/>
          </a:xfrm>
          <a:prstGeom prst="rightArrow">
            <a:avLst/>
          </a:prstGeom>
          <a:solidFill>
            <a:srgbClr val="004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114800" y="1371600"/>
            <a:ext cx="1691640" cy="1463040"/>
          </a:xfrm>
          <a:prstGeom prst="roundRect">
            <a:avLst/>
          </a:prstGeom>
          <a:solidFill>
            <a:srgbClr val="F0F9F6"/>
          </a:solidFill>
          <a:ln w="25400">
            <a:solidFill>
              <a:srgbClr val="00B8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04C99"/>
                </a:solidFill>
              </a:defRPr>
            </a:pPr>
            <a:r>
              <a:t>3. Daily</a:t>
            </a:r>
            <a:br/>
            <a:r>
              <a:t>Standups &amp;</a:t>
            </a:r>
            <a:br/>
            <a:r>
              <a:t>Board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24728" y="2029968"/>
            <a:ext cx="109728" cy="146304"/>
          </a:xfrm>
          <a:prstGeom prst="rightArrow">
            <a:avLst/>
          </a:prstGeom>
          <a:solidFill>
            <a:srgbClr val="004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943600" y="1371600"/>
            <a:ext cx="1691640" cy="1463040"/>
          </a:xfrm>
          <a:prstGeom prst="roundRect">
            <a:avLst/>
          </a:prstGeom>
          <a:solidFill>
            <a:srgbClr val="F5F0FF"/>
          </a:solidFill>
          <a:ln w="25400">
            <a:solidFill>
              <a:srgbClr val="7B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04C99"/>
                </a:solidFill>
              </a:defRPr>
            </a:pPr>
            <a:r>
              <a:t>4. Link</a:t>
            </a:r>
            <a:br/>
            <a:r>
              <a:t>Tests &amp;</a:t>
            </a:r>
            <a:br/>
            <a:r>
              <a:t>Trace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653528" y="2029968"/>
            <a:ext cx="109728" cy="146304"/>
          </a:xfrm>
          <a:prstGeom prst="rightArrow">
            <a:avLst/>
          </a:prstGeom>
          <a:solidFill>
            <a:srgbClr val="004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772400" y="1371600"/>
            <a:ext cx="1691640" cy="146304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C2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04C99"/>
                </a:solidFill>
              </a:defRPr>
            </a:pPr>
            <a:r>
              <a:t>5. Manage</a:t>
            </a:r>
            <a:br/>
            <a:r>
              <a:t>Changes &amp;</a:t>
            </a:r>
            <a:br/>
            <a:r>
              <a:t>Approvals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482328" y="2029968"/>
            <a:ext cx="109728" cy="146304"/>
          </a:xfrm>
          <a:prstGeom prst="rightArrow">
            <a:avLst/>
          </a:prstGeom>
          <a:solidFill>
            <a:srgbClr val="004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601200" y="1371600"/>
            <a:ext cx="1691640" cy="1463040"/>
          </a:xfrm>
          <a:prstGeom prst="roundRect">
            <a:avLst/>
          </a:prstGeom>
          <a:solidFill>
            <a:srgbClr val="E0F7FA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04C99"/>
                </a:solidFill>
              </a:defRPr>
            </a:pPr>
            <a:r>
              <a:t>6. Evaluate</a:t>
            </a:r>
            <a:br/>
            <a:r>
              <a:t>&amp;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08960"/>
            <a:ext cx="11247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4C99"/>
                </a:solidFill>
              </a:defRPr>
            </a:pPr>
            <a:r>
              <a:t>Detailed Workflow Steps:</a:t>
            </a:r>
          </a:p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</a:defRPr>
            </a:pPr>
            <a:r>
              <a:t>→ Product Owner creates Epics and User Stories in the Product Backlog</a:t>
            </a:r>
          </a:p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</a:defRPr>
            </a:pPr>
            <a:r>
              <a:t>→ During Sprint Planning, the team selects stories and commits to the Sprint Backlog</a:t>
            </a:r>
          </a:p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</a:defRPr>
            </a:pPr>
            <a:r>
              <a:t>→ Daily Standups use the Board to track progress and remove blockers</a:t>
            </a:r>
          </a:p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</a:defRPr>
            </a:pPr>
            <a:r>
              <a:t>→ QA links Test Cases to Requirements ensuring full traceability coverage</a:t>
            </a:r>
          </a:p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</a:defRPr>
            </a:pPr>
            <a:r>
              <a:t>→ Any requirement changes go through the Approval Workflow with impact analysis</a:t>
            </a:r>
          </a:p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</a:defRPr>
            </a:pPr>
            <a:r>
              <a:t>→ Sprint Review uses Dashboard Reports to evaluate completion and quality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4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4C99"/>
                </a:solidFill>
              </a:defRPr>
            </a:pPr>
            <a:r>
              <a:t>Challenges &amp;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340029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rPr dirty="0"/>
              <a:t> Agile Methodologies &amp; Jira for Requirements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486400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C2395B"/>
                </a:solidFill>
              </a:defRPr>
            </a:pPr>
            <a:r>
              <a:rPr dirty="0"/>
              <a:t>Common Challenges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rPr sz="2000" dirty="0"/>
              <a:t>⚠ Over-complex workflows slowing down the team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rPr sz="2000" dirty="0"/>
              <a:t>⚠ Poor issue descriptions leading to ambiguity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rPr sz="2000" dirty="0"/>
              <a:t>⚠ Inconsistent use of labels and custom fields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rPr sz="2000" dirty="0"/>
              <a:t>⚠ Too many notifications causing alert fatigue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rPr sz="2000" dirty="0"/>
              <a:t>⚠ Lack of training on Jira best practices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rPr sz="2000" dirty="0"/>
              <a:t>⚠ Integration gaps between Jira and other tools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rPr sz="2000" dirty="0"/>
              <a:t>⚠ Scope creep due to uncontrolled backlog growth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994687"/>
            <a:ext cx="5486400" cy="373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0B88F"/>
                </a:solidFill>
              </a:defRPr>
            </a:pPr>
            <a:r>
              <a:rPr dirty="0"/>
              <a:t>Best Practices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rPr sz="2000" dirty="0"/>
              <a:t>✓ Keep workflows simple — max 5-7 statuses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rPr sz="2000" dirty="0"/>
              <a:t>✓ Use clear, actionable user story formats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rPr sz="2000" dirty="0"/>
              <a:t>✓ Standardize fields and labels across projects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rPr sz="2000" dirty="0"/>
              <a:t>✓ Configure notification schemes wisely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rPr sz="2000" dirty="0"/>
              <a:t>✓ Provide regular Jira training for all users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rPr sz="2000" dirty="0"/>
              <a:t>✓ Automate repetitive tasks with Jira Automation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rPr sz="2000" dirty="0"/>
              <a:t>✓ Regular backlog grooming sessions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rPr sz="2000" dirty="0"/>
              <a:t>✓ Use dashboards for data-driven retrospectives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4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4C99"/>
                </a:solidFill>
              </a:defRPr>
            </a:pPr>
            <a:r>
              <a:t>Jira vs Other Requirements Management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CLO4: Agile Methodologies &amp; Jira for Requirements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2026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88720"/>
          <a:ext cx="11430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04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Jira</a:t>
                      </a:r>
                    </a:p>
                  </a:txBody>
                  <a:tcPr>
                    <a:solidFill>
                      <a:srgbClr val="004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Azure DevOps</a:t>
                      </a:r>
                    </a:p>
                  </a:txBody>
                  <a:tcPr>
                    <a:solidFill>
                      <a:srgbClr val="004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Rally (CA Agile)</a:t>
                      </a:r>
                    </a:p>
                  </a:txBody>
                  <a:tcPr>
                    <a:solidFill>
                      <a:srgbClr val="004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Agile Board</a:t>
                      </a:r>
                    </a:p>
                  </a:txBody>
                  <a:tcPr anchor="ctr"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⭐⭐⭐ Excellent</a:t>
                      </a:r>
                    </a:p>
                  </a:txBody>
                  <a:tcPr anchor="ctr"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⭐⭐⭐ Excellent</a:t>
                      </a:r>
                    </a:p>
                  </a:txBody>
                  <a:tcPr anchor="ctr"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⭐⭐⭐ Excellent</a:t>
                      </a:r>
                    </a:p>
                  </a:txBody>
                  <a:tcPr anchor="ctr"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Traceability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⭐⭐⭐ With RTM app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⭐⭐⭐ Built-in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⭐⭐⭐ Built-in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Change Mgmt</a:t>
                      </a:r>
                    </a:p>
                  </a:txBody>
                  <a:tcPr anchor="ctr">
                    <a:solidFill>
                      <a:srgbClr val="F0F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⭐⭐⭐ JSM workflows</a:t>
                      </a:r>
                    </a:p>
                  </a:txBody>
                  <a:tcPr anchor="ctr">
                    <a:solidFill>
                      <a:srgbClr val="F0F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⭐⭐ Good</a:t>
                      </a:r>
                    </a:p>
                  </a:txBody>
                  <a:tcPr anchor="ctr">
                    <a:solidFill>
                      <a:srgbClr val="F0F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⭐⭐ Good</a:t>
                      </a:r>
                    </a:p>
                  </a:txBody>
                  <a:tcPr anchor="ctr">
                    <a:solidFill>
                      <a:srgbClr val="F0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Reporting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⭐⭐⭐ Highly customizable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⭐⭐⭐ Good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⭐⭐ Basic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4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4C99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CLO4: Agile Methodologies &amp; Jira for Requirements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47120" cy="2011680"/>
          </a:xfrm>
          <a:prstGeom prst="roundRect">
            <a:avLst/>
          </a:prstGeom>
          <a:solidFill>
            <a:srgbClr val="E8F4FD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200"/>
              </a:spcAft>
              <a:defRPr sz="2200" b="1">
                <a:solidFill>
                  <a:srgbClr val="004C99"/>
                </a:solidFill>
              </a:defRPr>
            </a:pPr>
            <a:r>
              <a:t>Key Takeaways</a:t>
            </a:r>
          </a:p>
          <a:p>
            <a:pPr algn="ctr"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1. Jira is a comprehensive tool for managing Agile software requirements throughout their lifecycle</a:t>
            </a:r>
          </a:p>
          <a:p>
            <a:pPr algn="ctr"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2. Requirements Management: Epics, Stories, Backlogs, and Sprints provide structure to Agile planning</a:t>
            </a:r>
          </a:p>
          <a:p>
            <a:pPr algn="ctr"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3. Traceability: Issue linking and RTM matrices ensure full visibility from requirement to test to deployment</a:t>
            </a:r>
          </a:p>
          <a:p>
            <a:pPr algn="ctr"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4. Change Management: Configurable workflows with approval gates control scope while embracing Agile flexibility</a:t>
            </a:r>
          </a:p>
          <a:p>
            <a:pPr algn="ctr"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5. Evaluation: Dashboards, reports, and metrics enable data-driven assessment of requirement quality and completeness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383280"/>
            <a:ext cx="11247120" cy="1188720"/>
          </a:xfrm>
          <a:prstGeom prst="roundRect">
            <a:avLst/>
          </a:prstGeom>
          <a:solidFill>
            <a:srgbClr val="004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i="1">
                <a:solidFill>
                  <a:srgbClr val="FFFFFF"/>
                </a:solidFill>
              </a:defRPr>
            </a:pPr>
            <a:r>
              <a:t>"Agile does not mean no documentation — it means just enough documentation,</a:t>
            </a:r>
            <a:br/>
            <a:r>
              <a:t>at the right time, in the right place. Jira provides that place."</a:t>
            </a:r>
          </a:p>
          <a:p>
            <a:pPr algn="ctr">
              <a:defRPr sz="1300">
                <a:solidFill>
                  <a:srgbClr val="AACCEE"/>
                </a:solidFill>
              </a:defRPr>
            </a:pPr>
            <a:r>
              <a:t>— Modern Software Requirements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4C99"/>
                </a:solidFill>
              </a:defRPr>
            </a:pPr>
            <a:r>
              <a:rPr dirty="0"/>
              <a:t>Thank You!</a:t>
            </a:r>
          </a:p>
          <a:p>
            <a:pPr algn="ctr">
              <a:defRPr sz="1800">
                <a:solidFill>
                  <a:srgbClr val="666666"/>
                </a:solidFill>
              </a:defRPr>
            </a:pPr>
            <a:r>
              <a:rPr dirty="0"/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2041</Words>
  <Application>Microsoft Office PowerPoint</Application>
  <PresentationFormat>Widescreen</PresentationFormat>
  <Paragraphs>303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SamiKhan</dc:creator>
  <cp:keywords/>
  <dc:description>generated using python-pptx</dc:description>
  <cp:lastModifiedBy>Sami khan</cp:lastModifiedBy>
  <cp:revision>3</cp:revision>
  <dcterms:created xsi:type="dcterms:W3CDTF">2013-01-27T09:14:16Z</dcterms:created>
  <dcterms:modified xsi:type="dcterms:W3CDTF">2026-05-18T14:55:30Z</dcterms:modified>
  <cp:category/>
</cp:coreProperties>
</file>